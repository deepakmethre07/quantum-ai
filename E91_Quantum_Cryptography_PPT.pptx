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5" r:id="rId9"/>
    <p:sldId id="262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E91 Quantum Cryptography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555" y="3602355"/>
            <a:ext cx="6593840" cy="2453640"/>
          </a:xfrm>
        </p:spPr>
        <p:txBody>
          <a:bodyPr/>
          <a:lstStyle/>
          <a:p>
            <a:r>
              <a:t>Key Concepts, Security &amp; Eavesdropping Detection</a:t>
            </a:r>
          </a:p>
          <a:p>
            <a:r>
              <a:rPr lang="en-US"/>
              <a:t>Belliappa m A </a:t>
            </a:r>
            <a:endParaRPr lang="en-US"/>
          </a:p>
          <a:p>
            <a:r>
              <a:rPr lang="en-US"/>
              <a:t>deepak methre</a:t>
            </a:r>
            <a:endParaRPr lang="en-US"/>
          </a:p>
          <a:p>
            <a:r>
              <a:rPr lang="en-US"/>
              <a:t>Chitral Goel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Quantum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quantum mechanics for secure communication.</a:t>
            </a:r>
          </a:p>
          <a:p>
            <a:r>
              <a:t>• Ensures any eavesdropping attempt becomes detectable.</a:t>
            </a:r>
          </a:p>
          <a:p>
            <a:r>
              <a:t>• Based on principles of superposition &amp; measurement disturbance.</a:t>
            </a:r>
          </a:p>
          <a:p>
            <a:r>
              <a:t>• E91 uses entanglement instead of prepared qubits.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E91 Protocol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Charlie creates entangled Bell pairs (|Φ+⟩ state).</a:t>
            </a:r>
            <a:endParaRPr dirty="0"/>
          </a:p>
          <a:p>
            <a:r>
              <a:rPr dirty="0"/>
              <a:t>• Sends one qubit to Alice and one to Bob.</a:t>
            </a:r>
            <a:endParaRPr dirty="0"/>
          </a:p>
          <a:p>
            <a:r>
              <a:rPr dirty="0"/>
              <a:t>• Alice &amp; Bob measure using random bases.</a:t>
            </a:r>
            <a:endParaRPr dirty="0"/>
          </a:p>
          <a:p>
            <a:r>
              <a:rPr dirty="0"/>
              <a:t>• Same basis → generate key bits.</a:t>
            </a:r>
            <a:endParaRPr dirty="0"/>
          </a:p>
          <a:p>
            <a:r>
              <a:rPr dirty="0"/>
              <a:t>• Different bases → used for Bell inequality test.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Bases &amp; Key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Alice's bases: 0°, 45°, 90°.</a:t>
            </a:r>
          </a:p>
          <a:p>
            <a:r>
              <a:t>• Bob's bases: 45°, 90°, 135°.</a:t>
            </a:r>
          </a:p>
          <a:p>
            <a:r>
              <a:t>• Correlated measurement outcomes when bases match.</a:t>
            </a:r>
          </a:p>
          <a:p>
            <a:r>
              <a:t>• Matching rounds → sifted key.</a:t>
            </a:r>
          </a:p>
          <a:p>
            <a:r>
              <a:t>• Remaining rounds → security check.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Eavesdropping &amp;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 measuring qubits collapses entanglement.</a:t>
            </a:r>
          </a:p>
          <a:p>
            <a:r>
              <a:t>• Disturbs correlation patterns between Alice &amp; Bob.</a:t>
            </a:r>
          </a:p>
          <a:p>
            <a:r>
              <a:t>• Bell’s CHSH </a:t>
            </a:r>
            <a:r>
              <a:rPr lang="en-US"/>
              <a:t>(</a:t>
            </a:r>
            <a:r>
              <a:rPr lang="en-US" altLang="en-GB"/>
              <a:t>Clauser–Horne–Shimony–Holt</a:t>
            </a:r>
            <a:r>
              <a:rPr lang="en-US"/>
              <a:t>) </a:t>
            </a:r>
            <a:r>
              <a:t>inequality used for eavesdropper detection.</a:t>
            </a:r>
          </a:p>
          <a:p>
            <a:r>
              <a:t>• Reduced Bell violation = presence of Eve.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Advantages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09575" y="2047240"/>
          <a:ext cx="8307705" cy="3413760"/>
        </p:xfrm>
        <a:graphic>
          <a:graphicData uri="http://schemas.openxmlformats.org/drawingml/2006/table">
            <a:tbl>
              <a:tblPr/>
              <a:tblGrid>
                <a:gridCol w="2769235"/>
                <a:gridCol w="2769235"/>
                <a:gridCol w="2769235"/>
              </a:tblGrid>
              <a:tr h="514985">
                <a:tc>
                  <a:txBody>
                    <a:bodyPr/>
                    <a:p>
                      <a:pPr algn="l"/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Aspect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Classical Encryption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E91 Protocol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836295"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Security basis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Computational hardness (can be broken)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Quantum mechanics laws (cannot be broken)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5620"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Eavesdropping detection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No detection possible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Automatic detection built-in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Post-quantum security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Vulnerable to quantum computers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Resistant to quantum computers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5620"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Key lifetime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Years (before potential compromise)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Essentially unlimited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4985"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Future-proofing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Requires key replacement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Inherently future-proof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Limitations 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GB" sz="2000"/>
              <a:t>Despite its potential, E91 deployment faces challenges:</a:t>
            </a:r>
            <a:endParaRPr lang="en-US" altLang="en-GB" sz="2000"/>
          </a:p>
          <a:p>
            <a:r>
              <a:rPr lang="en-US" altLang="en-GB" sz="2000"/>
              <a:t>Distance limitations: Quantum signals degrade over distance (currently ~100 km without quantum repeaters)</a:t>
            </a:r>
            <a:endParaRPr lang="en-US" altLang="en-GB" sz="2000"/>
          </a:p>
          <a:p>
            <a:r>
              <a:rPr lang="en-US" altLang="en-GB" sz="2000"/>
              <a:t>Cost: Quantum infrastructure is expensive to build and maintain</a:t>
            </a:r>
            <a:endParaRPr lang="en-US" altLang="en-GB" sz="2000"/>
          </a:p>
          <a:p>
            <a:r>
              <a:rPr lang="en-US" altLang="en-GB" sz="2000"/>
              <a:t>Complexity: Requires specialized expertise to implement and operate</a:t>
            </a:r>
            <a:endParaRPr lang="en-US" altLang="en-GB" sz="2000"/>
          </a:p>
          <a:p>
            <a:r>
              <a:rPr lang="en-US" altLang="en-GB" sz="2000"/>
              <a:t>Integration: Must integrate with existing classical communication infrastructure</a:t>
            </a:r>
            <a:endParaRPr lang="en-US" altLang="en-GB" sz="2000"/>
          </a:p>
          <a:p>
            <a:r>
              <a:rPr lang="en-US" altLang="en-GB" sz="2000"/>
              <a:t>Standardization: Still evolving toward international standards</a:t>
            </a:r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Applications 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980" y="1595755"/>
            <a:ext cx="7429500" cy="45129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1600"/>
              <a:t>The E91 quantum key distribution protocol has several important applications in secure communication and cryptographic systems. Here are the primary use cases:</a:t>
            </a:r>
            <a:endParaRPr lang="en-US" altLang="en-GB" sz="1600"/>
          </a:p>
          <a:p>
            <a:r>
              <a:rPr lang="en-US" altLang="en-GB" sz="1600"/>
              <a:t>1. Secure Communication Networks</a:t>
            </a:r>
            <a:endParaRPr lang="en-US" altLang="en-GB" sz="1600"/>
          </a:p>
          <a:p>
            <a:r>
              <a:rPr lang="en-US" altLang="en-GB" sz="1600"/>
              <a:t>2. Financial Institutions and Banking</a:t>
            </a:r>
            <a:endParaRPr lang="en-US" altLang="en-GB" sz="1600"/>
          </a:p>
          <a:p>
            <a:r>
              <a:rPr lang="en-US" altLang="en-GB" sz="1600"/>
              <a:t>3. Critical Infrastructure Protection</a:t>
            </a:r>
            <a:endParaRPr lang="en-US" altLang="en-GB" sz="1600"/>
          </a:p>
          <a:p>
            <a:r>
              <a:rPr lang="en-US" altLang="en-GB" sz="1600"/>
              <a:t>4. Healthcare and Medical Records</a:t>
            </a:r>
            <a:endParaRPr lang="en-US" altLang="en-GB" sz="1600"/>
          </a:p>
          <a:p>
            <a:r>
              <a:rPr lang="en-US" altLang="en-GB" sz="1600"/>
              <a:t>5. Quantum Internet Alliance and Quantum Networks</a:t>
            </a:r>
            <a:endParaRPr lang="en-US" altLang="en-GB" sz="1600"/>
          </a:p>
          <a:p>
            <a:r>
              <a:rPr lang="en-US" altLang="en-GB" sz="1600"/>
              <a:t>6. Data Center Security</a:t>
            </a:r>
            <a:endParaRPr lang="en-US" altLang="en-GB" sz="1600"/>
          </a:p>
          <a:p>
            <a:r>
              <a:rPr lang="en-US" altLang="en-GB" sz="1600"/>
              <a:t>7. Long-Term Archival Data Protection</a:t>
            </a:r>
            <a:endParaRPr lang="en-US" altLang="en-GB" sz="1600"/>
          </a:p>
          <a:p>
            <a:r>
              <a:rPr lang="en-US" altLang="en-GB" sz="1600"/>
              <a:t>8. Eavesdropping Detection and Network Monitoring</a:t>
            </a:r>
            <a:endParaRPr lang="en-US" altLang="en-GB" sz="1600"/>
          </a:p>
          <a:p>
            <a:r>
              <a:rPr lang="en-US" altLang="en-GB" sz="1600"/>
              <a:t>9. Blockchain and Cryptocurrency Security</a:t>
            </a:r>
            <a:endParaRPr lang="en-US" altLang="en-GB" sz="1600"/>
          </a:p>
          <a:p>
            <a:r>
              <a:rPr lang="en-US" altLang="en-GB" sz="1600"/>
              <a:t>10. Space-to-Ground Communication</a:t>
            </a:r>
            <a:endParaRPr lang="en-US" altLang="en-GB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E91 is an entanglement-based QKD protocol.</a:t>
            </a:r>
          </a:p>
          <a:p>
            <a:r>
              <a:t>• Provides strong security using quantum principles.</a:t>
            </a:r>
          </a:p>
          <a:p>
            <a:r>
              <a:t>• Bell inequality test ensures detection of eavesdropping.</a:t>
            </a:r>
          </a:p>
          <a:p>
            <a:r>
              <a:t>• Forms the foundation for future quantum communication systems.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54*268"/>
  <p:tag name="TABLE_ENDDRAG_RECT" val="32*161*654*26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2718</Words>
  <Application>WPS Presentation</Application>
  <PresentationFormat>On-screen Show (4:3)</PresentationFormat>
  <Paragraphs>107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Trebuchet MS</vt:lpstr>
      <vt:lpstr>Tw Cen MT</vt:lpstr>
      <vt:lpstr>Microsoft YaHei</vt:lpstr>
      <vt:lpstr>Arial Unicode MS</vt:lpstr>
      <vt:lpstr>Calibri</vt:lpstr>
      <vt:lpstr>Arial</vt:lpstr>
      <vt:lpstr>Circuit</vt:lpstr>
      <vt:lpstr>E91 Quantum Cryptography Protocol</vt:lpstr>
      <vt:lpstr>Introduction to Quantum Cryptography</vt:lpstr>
      <vt:lpstr>E91 Protocol Overview</vt:lpstr>
      <vt:lpstr>Measurement Bases &amp; Key Creation</vt:lpstr>
      <vt:lpstr>Eavesdropping &amp; Detection</vt:lpstr>
      <vt:lpstr>PowerPoint 演示文稿</vt:lpstr>
      <vt:lpstr>PowerPoint 演示文稿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</dc:creator>
  <dc:description>generated using python-pptx</dc:description>
  <cp:lastModifiedBy>Belliappa M A</cp:lastModifiedBy>
  <cp:revision>5</cp:revision>
  <dcterms:created xsi:type="dcterms:W3CDTF">2013-01-27T09:14:00Z</dcterms:created>
  <dcterms:modified xsi:type="dcterms:W3CDTF">2025-11-15T07:19:11Z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DBF697CDDA2840ADAC0A6BDF35C0A6B5_12</vt:lpwstr>
  </property>
  <property fmtid="{D5CDD505-2E9C-101B-9397-08002B2CF9AE}" pid="3" name="KSOProductBuildVer">
    <vt:lpwstr>2057-12.2.0.23149</vt:lpwstr>
  </property>
</Properties>
</file>